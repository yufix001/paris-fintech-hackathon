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MRR</c:v>
                </c:pt>
              </c:strCache>
            </c:strRef>
          </c:tx>
          <c:spPr>
            <a:solidFill>
              <a:srgbClr val="00D26A"/>
            </a:solidFill>
            <a:ln w="38100" cap="flat">
              <a:solidFill>
                <a:srgbClr val="00D26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D26A"/>
              </a:solidFill>
              <a:ln w="9525" cap="flat">
                <a:solidFill>
                  <a:srgbClr val="00D26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Jul-25</c:v>
                  </c:pt>
                  <c:pt idx="1">
                    <c:v>Aug-25</c:v>
                  </c:pt>
                  <c:pt idx="2">
                    <c:v>Sep-25</c:v>
                  </c:pt>
                  <c:pt idx="3">
                    <c:v>Oct-25</c:v>
                  </c:pt>
                  <c:pt idx="4">
                    <c:v>Nov-25</c:v>
                  </c:pt>
                  <c:pt idx="5">
                    <c:v>Dec-25</c:v>
                  </c:pt>
                  <c:pt idx="6">
                    <c:v>Jan-26</c:v>
                  </c:pt>
                  <c:pt idx="7">
                    <c:v>Feb-26</c:v>
                  </c:pt>
                  <c:pt idx="8">
                    <c:v>Mar-26</c:v>
                  </c:pt>
                  <c:pt idx="9">
                    <c:v>Apr-26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12</c:v>
                </c:pt>
                <c:pt idx="1">
                  <c:v>24</c:v>
                </c:pt>
                <c:pt idx="2">
                  <c:v>38</c:v>
                </c:pt>
                <c:pt idx="3">
                  <c:v>55</c:v>
                </c:pt>
                <c:pt idx="4">
                  <c:v>71</c:v>
                </c:pt>
                <c:pt idx="5">
                  <c:v>82</c:v>
                </c:pt>
                <c:pt idx="6">
                  <c:v>94</c:v>
                </c:pt>
                <c:pt idx="7">
                  <c:v>105</c:v>
                </c:pt>
                <c:pt idx="8">
                  <c:v>113</c:v>
                </c:pt>
                <c:pt idx="9">
                  <c:v>117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A3A3A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A3A3A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ARR</c:v>
                </c:pt>
              </c:strCache>
            </c:strRef>
          </c:tx>
          <c:spPr>
            <a:solidFill>
              <a:srgbClr val="00D26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A0A0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2025</c:v>
                  </c:pt>
                  <c:pt idx="1">
                    <c:v>2026</c:v>
                  </c:pt>
                  <c:pt idx="2">
                    <c:v>2027</c:v>
                  </c:pt>
                  <c:pt idx="3">
                    <c:v>2028</c:v>
                  </c:pt>
                  <c:pt idx="4">
                    <c:v>2029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0.4</c:v>
                </c:pt>
                <c:pt idx="1">
                  <c:v>1.4</c:v>
                </c:pt>
                <c:pt idx="2">
                  <c:v>5.8</c:v>
                </c:pt>
                <c:pt idx="3">
                  <c:v>14.5</c:v>
                </c:pt>
                <c:pt idx="4">
                  <c:v>25.2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A0A0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A3A3A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A3A3A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56032" cy="256032"/>
          </a:xfrm>
          <a:prstGeom prst="rect">
            <a:avLst/>
          </a:prstGeom>
          <a:solidFill>
            <a:srgbClr val="00D26A"/>
          </a:solidFill>
          <a:ln w="12700">
            <a:solidFill>
              <a:srgbClr val="00D2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4747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NeuroLedger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0D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DECK · SERIES A ·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24028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AI-native fraud prevention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00D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European fintechs.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3703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transaction screening powered by graph neural networks. Built in Paris. Deployed across the EU.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neuroledger.eu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May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9184"/>
            <a:ext cx="164592" cy="164592"/>
          </a:xfrm>
          <a:prstGeom prst="rect">
            <a:avLst/>
          </a:prstGeom>
          <a:solidFill>
            <a:srgbClr val="00D26A"/>
          </a:solidFill>
          <a:ln w="12700">
            <a:solidFill>
              <a:srgbClr val="00D2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NeuroLedger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A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PROBLEM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is eating fintech margins alive.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3931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€4.3B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457200" y="361188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to payment fraud in the EU in 2024 — up 41% YoY according to the ECB.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2194560"/>
            <a:ext cx="36576" cy="640080"/>
          </a:xfrm>
          <a:prstGeom prst="rect">
            <a:avLst/>
          </a:prstGeom>
          <a:solidFill>
            <a:srgbClr val="00D26A"/>
          </a:solidFill>
          <a:ln w="12700">
            <a:solidFill>
              <a:srgbClr val="00D26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2148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937760" y="24871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European fintechs still rely on rules-based engines from 2015.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2971800"/>
            <a:ext cx="36576" cy="640080"/>
          </a:xfrm>
          <a:prstGeom prst="rect">
            <a:avLst/>
          </a:prstGeom>
          <a:solidFill>
            <a:srgbClr val="00D26A"/>
          </a:solidFill>
          <a:ln w="12700">
            <a:solidFill>
              <a:srgbClr val="00D2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29260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weeks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937760" y="32644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integration time for legacy fraud vendors (Featurespace, NICE).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3749040"/>
            <a:ext cx="36576" cy="640080"/>
          </a:xfrm>
          <a:prstGeom prst="rect">
            <a:avLst/>
          </a:prstGeom>
          <a:solidFill>
            <a:srgbClr val="00D26A"/>
          </a:solidFill>
          <a:ln w="12700">
            <a:solidFill>
              <a:srgbClr val="00D26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37033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€280k+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937760" y="40416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cost of a single fraud analyst — and EU compliance keeps growing.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0" y="4846320"/>
            <a:ext cx="777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9184"/>
            <a:ext cx="164592" cy="164592"/>
          </a:xfrm>
          <a:prstGeom prst="rect">
            <a:avLst/>
          </a:prstGeom>
          <a:solidFill>
            <a:srgbClr val="00D26A"/>
          </a:solidFill>
          <a:ln w="12700">
            <a:solidFill>
              <a:srgbClr val="00D2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NeuroLedger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A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SOLUTION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fraud brain that plugs in via one API.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20574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NeuroLedger is the first AI-native transaction screening platform built natively on graph neural networks. We score every transaction in &lt;40ms — and explain why.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971800"/>
            <a:ext cx="2651760" cy="1691640"/>
          </a:xfrm>
          <a:prstGeom prst="rect">
            <a:avLst/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971800"/>
            <a:ext cx="2651760" cy="36576"/>
          </a:xfrm>
          <a:prstGeom prst="rect">
            <a:avLst/>
          </a:prstGeom>
          <a:solidFill>
            <a:srgbClr val="00D26A"/>
          </a:solidFill>
          <a:ln w="12700">
            <a:solidFill>
              <a:srgbClr val="00D26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31272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85800" y="352044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risk scoring using GNNs trained on 2.4B European transactions.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2971800"/>
            <a:ext cx="2651760" cy="1691640"/>
          </a:xfrm>
          <a:prstGeom prst="rect">
            <a:avLst/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91840" y="2971800"/>
            <a:ext cx="2651760" cy="36576"/>
          </a:xfrm>
          <a:prstGeom prst="rect">
            <a:avLst/>
          </a:prstGeom>
          <a:solidFill>
            <a:srgbClr val="00D26A"/>
          </a:solidFill>
          <a:ln w="12700">
            <a:solidFill>
              <a:srgbClr val="00D26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20440" y="31272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520440" y="352044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alert comes with a human-readable reasoning chain — built for AMF &amp; ACPR audits.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2971800"/>
            <a:ext cx="2651760" cy="1691640"/>
          </a:xfrm>
          <a:prstGeom prst="rect">
            <a:avLst/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26480" y="2971800"/>
            <a:ext cx="2651760" cy="36576"/>
          </a:xfrm>
          <a:prstGeom prst="rect">
            <a:avLst/>
          </a:prstGeom>
          <a:solidFill>
            <a:srgbClr val="00D26A"/>
          </a:solidFill>
          <a:ln w="12700">
            <a:solidFill>
              <a:srgbClr val="00D26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31272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355080" y="352044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learning loop: each analyst decision improves the model overnight.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0" y="4846320"/>
            <a:ext cx="777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12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9184"/>
            <a:ext cx="164592" cy="164592"/>
          </a:xfrm>
          <a:prstGeom prst="rect">
            <a:avLst/>
          </a:prstGeom>
          <a:solidFill>
            <a:srgbClr val="00D26A"/>
          </a:solidFill>
          <a:ln w="12700">
            <a:solidFill>
              <a:srgbClr val="00D2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NeuroLedger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A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MARKET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€12B European market — under-served by AI.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2011680"/>
            <a:ext cx="2743200" cy="2743200"/>
          </a:xfrm>
          <a:prstGeom prst="ellipse">
            <a:avLst/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80160" y="2468880"/>
            <a:ext cx="1828800" cy="1828800"/>
          </a:xfrm>
          <a:prstGeom prst="ellipse">
            <a:avLst/>
          </a:prstGeom>
          <a:solidFill>
            <a:srgbClr val="E6FAF0"/>
          </a:solidFill>
          <a:ln w="12700">
            <a:solidFill>
              <a:srgbClr val="00D26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37360" y="2926080"/>
            <a:ext cx="914400" cy="914400"/>
          </a:xfrm>
          <a:prstGeom prst="ellipse">
            <a:avLst/>
          </a:prstGeom>
          <a:solidFill>
            <a:srgbClr val="00D26A"/>
          </a:solidFill>
          <a:ln w="12700">
            <a:solidFill>
              <a:srgbClr val="00D26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37360" y="321868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2377440"/>
            <a:ext cx="201168" cy="201168"/>
          </a:xfrm>
          <a:prstGeom prst="ellipse">
            <a:avLst/>
          </a:prstGeom>
          <a:solidFill>
            <a:srgbClr val="00D26A"/>
          </a:solidFill>
          <a:ln w="12700">
            <a:solidFill>
              <a:srgbClr val="00D2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74920" y="231343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 — Serviceable Obtainable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74920" y="25328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€180M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074920" y="2862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fintechs &gt; €50M GMV (300 firms)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3246120"/>
            <a:ext cx="201168" cy="201168"/>
          </a:xfrm>
          <a:prstGeom prst="ellipse">
            <a:avLst/>
          </a:prstGeom>
          <a:solidFill>
            <a:srgbClr val="00A855"/>
          </a:solidFill>
          <a:ln w="12700">
            <a:solidFill>
              <a:srgbClr val="00A8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74920" y="318211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— Serviceable Available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74920" y="34015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€2.1B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074920" y="37307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regtech &amp; fraud SaaS spend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4114800"/>
            <a:ext cx="201168" cy="201168"/>
          </a:xfrm>
          <a:prstGeom prst="ellipse">
            <a:avLst/>
          </a:prstGeom>
          <a:solidFill>
            <a:srgbClr val="525252"/>
          </a:solidFill>
          <a:ln w="12700">
            <a:solidFill>
              <a:srgbClr val="52525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74920" y="40507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— Total Addressable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74920" y="42702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€12B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074920" y="45994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financial fraud prevention by 2028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29600" y="4846320"/>
            <a:ext cx="777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12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9184"/>
            <a:ext cx="164592" cy="164592"/>
          </a:xfrm>
          <a:prstGeom prst="rect">
            <a:avLst/>
          </a:prstGeom>
          <a:solidFill>
            <a:srgbClr val="00D26A"/>
          </a:solidFill>
          <a:ln w="12700">
            <a:solidFill>
              <a:srgbClr val="00D2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NeuroLedger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A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PRODUCT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API. Three core modules.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029200" y="2057400"/>
            <a:ext cx="3657600" cy="260604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0" y="2057400"/>
            <a:ext cx="3657600" cy="29260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38928" y="2148840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0" y="2148840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68112" y="2148840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57800" y="24688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D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FRAUD STREAM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257800" y="2770632"/>
            <a:ext cx="3200400" cy="329184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257800" y="2770632"/>
            <a:ext cx="36576" cy="32918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49240" y="27980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897880" y="282549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TXN_8842 · €4,200 · Card-not-present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257800" y="3182112"/>
            <a:ext cx="3200400" cy="329184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257800" y="3182112"/>
            <a:ext cx="36576" cy="329184"/>
          </a:xfrm>
          <a:prstGeom prst="rect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49240" y="320954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897880" y="323697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TXN_8841 · €890 · Velocity anomaly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257800" y="3593592"/>
            <a:ext cx="3200400" cy="329184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257800" y="3593592"/>
            <a:ext cx="36576" cy="329184"/>
          </a:xfrm>
          <a:prstGeom prst="rect">
            <a:avLst/>
          </a:prstGeom>
          <a:solidFill>
            <a:srgbClr val="00D26A"/>
          </a:solidFill>
          <a:ln w="12700">
            <a:solidFill>
              <a:srgbClr val="00D26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49240" y="362102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897880" y="364845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TXN_8840 · €45 · Cleared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257800" y="4005072"/>
            <a:ext cx="3200400" cy="329184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257800" y="4005072"/>
            <a:ext cx="36576" cy="329184"/>
          </a:xfrm>
          <a:prstGeom prst="rect">
            <a:avLst/>
          </a:prstGeom>
          <a:solidFill>
            <a:srgbClr val="00D26A"/>
          </a:solidFill>
          <a:ln w="12700">
            <a:solidFill>
              <a:srgbClr val="00D26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49240" y="40325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897880" y="405993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TXN_8839 · €120 · Cleared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21488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1005840" y="213055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scoring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005840" y="247802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+ webhook · 99.99% uptime SLA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30175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1005840" y="29992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management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005840" y="334670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UI for analyst review &amp; SAR filing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38862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1005840" y="386791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reports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005840" y="421538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for DSP2, AMLD6, MiCA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229600" y="4846320"/>
            <a:ext cx="777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12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9184"/>
            <a:ext cx="164592" cy="164592"/>
          </a:xfrm>
          <a:prstGeom prst="rect">
            <a:avLst/>
          </a:prstGeom>
          <a:solidFill>
            <a:srgbClr val="00D26A"/>
          </a:solidFill>
          <a:ln w="12700">
            <a:solidFill>
              <a:srgbClr val="00D2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NeuroLedger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A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TRACTION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0 to €1.4M ARR in 11 months.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1965960" cy="1005840"/>
          </a:xfrm>
          <a:prstGeom prst="rect">
            <a:avLst/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1031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€1.4M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94360" y="26060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606040" y="2011680"/>
            <a:ext cx="1965960" cy="1005840"/>
          </a:xfrm>
          <a:prstGeom prst="rect">
            <a:avLst/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0" y="21031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743200" y="26060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PAYING CLIENTS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54880" y="2011680"/>
            <a:ext cx="1965960" cy="1005840"/>
          </a:xfrm>
          <a:prstGeom prst="rect">
            <a:avLst/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21031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892040" y="26060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RETENTION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903720" y="2011680"/>
            <a:ext cx="1965960" cy="1005840"/>
          </a:xfrm>
          <a:prstGeom prst="rect">
            <a:avLst/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0" y="21031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&lt;2%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7040880" y="26060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3246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RECURRING REVENUE — €K</a:t>
            </a:r>
            <a:endParaRPr lang="en-US" sz="90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457200" y="3520440"/>
          <a:ext cx="8229600" cy="1280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0" name="Text 17"/>
          <p:cNvSpPr/>
          <p:nvPr/>
        </p:nvSpPr>
        <p:spPr>
          <a:xfrm>
            <a:off x="8229600" y="4846320"/>
            <a:ext cx="777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12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9184"/>
            <a:ext cx="164592" cy="164592"/>
          </a:xfrm>
          <a:prstGeom prst="rect">
            <a:avLst/>
          </a:prstGeom>
          <a:solidFill>
            <a:srgbClr val="00D26A"/>
          </a:solidFill>
          <a:ln w="12700">
            <a:solidFill>
              <a:srgbClr val="00D2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NeuroLedger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A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BUSINESS MODEL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subscription + per-transaction.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2057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charge a platform fee tied to client size, plus a low per-transaction fee that scales with their growth. Land low, expand fast.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697480"/>
            <a:ext cx="26517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31089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34747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€2k</a:t>
            </a:r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85800" y="39776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100k txns · 1 entity · email support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43891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Early-stage fintechs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91840" y="2697480"/>
            <a:ext cx="2651760" cy="201168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20440" y="286207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0D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ADOPTED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520440" y="31089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520440" y="34747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€8k</a:t>
            </a:r>
            <a:pPr indent="0" marL="0">
              <a:buNone/>
            </a:pPr>
            <a:r>
              <a:rPr lang="en-US" sz="12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520440" y="39776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1M txns · multi-entity · 4h SLA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520440" y="43891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0D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A &amp; B fintechs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126480" y="2697480"/>
            <a:ext cx="26517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5080" y="31089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355080" y="34747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</a:t>
            </a:r>
            <a:pPr indent="0" marL="0">
              <a:buNone/>
            </a:pP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355080" y="39776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· dedicated cluster · 99.99% SLA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355080" y="43891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 &amp; payment networks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229600" y="4846320"/>
            <a:ext cx="777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12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9184"/>
            <a:ext cx="164592" cy="164592"/>
          </a:xfrm>
          <a:prstGeom prst="rect">
            <a:avLst/>
          </a:prstGeom>
          <a:solidFill>
            <a:srgbClr val="00D26A"/>
          </a:solidFill>
          <a:ln w="12700">
            <a:solidFill>
              <a:srgbClr val="00D2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NeuroLedger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A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COMPETITION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Faster, more accurate, EU-native.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8229600" cy="384048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03120" y="2103120"/>
            <a:ext cx="1645920" cy="384048"/>
          </a:xfrm>
          <a:prstGeom prst="rect">
            <a:avLst/>
          </a:prstGeom>
          <a:solidFill>
            <a:srgbClr val="00D26A"/>
          </a:solidFill>
          <a:ln w="12700">
            <a:solidFill>
              <a:srgbClr val="00D2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15798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240280" y="215798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NeuroLedger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86200" y="215798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Featurespace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532120" y="215798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NICE Actimize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178040" y="215798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Onfido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487168"/>
            <a:ext cx="8229600" cy="384048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103120" y="2487168"/>
            <a:ext cx="1645920" cy="384048"/>
          </a:xfrm>
          <a:prstGeom prst="rect">
            <a:avLst/>
          </a:prstGeom>
          <a:solidFill>
            <a:srgbClr val="E6FAF0"/>
          </a:solidFill>
          <a:ln w="12700">
            <a:solidFill>
              <a:srgbClr val="E6FA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5603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240280" y="25603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&lt;40ms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886200" y="25603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~150ms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532120" y="25603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~300ms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178040" y="25603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~80ms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103120" y="2871216"/>
            <a:ext cx="1645920" cy="384048"/>
          </a:xfrm>
          <a:prstGeom prst="rect">
            <a:avLst/>
          </a:prstGeom>
          <a:solidFill>
            <a:srgbClr val="E6FAF0"/>
          </a:solidFill>
          <a:ln w="12700">
            <a:solidFill>
              <a:srgbClr val="E6FA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29443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architecture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240280" y="29443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NN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886200" y="29443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532120" y="29443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Rules+ML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178040" y="29443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3255264"/>
            <a:ext cx="8229600" cy="384048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103120" y="3255264"/>
            <a:ext cx="1645920" cy="384048"/>
          </a:xfrm>
          <a:prstGeom prst="rect">
            <a:avLst/>
          </a:prstGeom>
          <a:solidFill>
            <a:srgbClr val="E6FAF0"/>
          </a:solidFill>
          <a:ln w="12700">
            <a:solidFill>
              <a:srgbClr val="E6FA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332841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240280" y="332841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days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886200" y="332841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weeks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532120" y="332841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weeks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178040" y="332841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weeks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103120" y="3639312"/>
            <a:ext cx="1645920" cy="384048"/>
          </a:xfrm>
          <a:prstGeom prst="rect">
            <a:avLst/>
          </a:prstGeom>
          <a:solidFill>
            <a:srgbClr val="E6FAF0"/>
          </a:solidFill>
          <a:ln w="12700">
            <a:solidFill>
              <a:srgbClr val="E6FA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" y="371246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240280" y="371246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886200" y="371246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532120" y="371246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178040" y="371246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57200" y="4023360"/>
            <a:ext cx="8229600" cy="384048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103120" y="4023360"/>
            <a:ext cx="1645920" cy="384048"/>
          </a:xfrm>
          <a:prstGeom prst="rect">
            <a:avLst/>
          </a:prstGeom>
          <a:solidFill>
            <a:srgbClr val="E6FAF0"/>
          </a:solidFill>
          <a:ln w="12700">
            <a:solidFill>
              <a:srgbClr val="E6FA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94360" y="409651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data residency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2240280" y="409651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886200" y="409651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532120" y="409651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178040" y="409651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2103120" y="4407408"/>
            <a:ext cx="1645920" cy="384048"/>
          </a:xfrm>
          <a:prstGeom prst="rect">
            <a:avLst/>
          </a:prstGeom>
          <a:solidFill>
            <a:srgbClr val="E6FAF0"/>
          </a:solidFill>
          <a:ln w="12700">
            <a:solidFill>
              <a:srgbClr val="E6FA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94360" y="448056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price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2240280" y="448056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€2k/mo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3886200" y="448056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€15k/mo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532120" y="448056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€40k/mo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178040" y="448056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€8k/mo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8229600" y="4846320"/>
            <a:ext cx="777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12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9184"/>
            <a:ext cx="164592" cy="164592"/>
          </a:xfrm>
          <a:prstGeom prst="rect">
            <a:avLst/>
          </a:prstGeom>
          <a:solidFill>
            <a:srgbClr val="00D26A"/>
          </a:solidFill>
          <a:ln w="12700">
            <a:solidFill>
              <a:srgbClr val="00D2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NeuroLedger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A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TEAM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fintech &amp; AI veterans.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1005840" y="2103120"/>
            <a:ext cx="914400" cy="914400"/>
          </a:xfrm>
          <a:prstGeom prst="ellipse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350008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D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31546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Élise Mercier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4290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A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&amp; Co-founder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3730752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Ex-Head of Risk @ Qonto. 8y in fintech. HEC Paris MBA.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54680" y="2103120"/>
            <a:ext cx="914400" cy="914400"/>
          </a:xfrm>
          <a:prstGeom prst="ellipse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54680" y="2350008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D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606040" y="31546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Rohan Thapa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606040" y="34290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A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 &amp; Co-founder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606040" y="3730752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Ex-Staff ML Engineer @ Stripe Radar. PhD in graph ML, EPFL.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303520" y="2103120"/>
            <a:ext cx="914400" cy="914400"/>
          </a:xfrm>
          <a:prstGeom prst="ellipse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0" y="2350008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D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754880" y="31546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Sofia Kowalski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754880" y="34290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A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Compliance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54880" y="3730752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Ex-AMF inspector. Led MiCA framework drafting at ESMA.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452360" y="2103120"/>
            <a:ext cx="914400" cy="914400"/>
          </a:xfrm>
          <a:prstGeom prst="ellipse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52360" y="2350008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D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903720" y="31546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Théo Bernard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903720" y="34290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A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 Engineering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903720" y="3730752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Ex-Lead Eng @ Swan. Scaled core banking infra to 800k accounts.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solidFill>
            <a:srgbClr val="FAFAFA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47091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Backed by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554480" y="4709160"/>
            <a:ext cx="704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Kima Ventures · BPI France · Motier Ventures · angels from Qonto, Alan, Spendesk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9184"/>
            <a:ext cx="164592" cy="164592"/>
          </a:xfrm>
          <a:prstGeom prst="rect">
            <a:avLst/>
          </a:prstGeom>
          <a:solidFill>
            <a:srgbClr val="00D26A"/>
          </a:solidFill>
          <a:ln w="12700">
            <a:solidFill>
              <a:srgbClr val="00D2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NeuroLedger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A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GO-TO-MARKET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motions, one playbook.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8229600" cy="841248"/>
          </a:xfrm>
          <a:prstGeom prst="rect">
            <a:avLst/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011680"/>
            <a:ext cx="54864" cy="841248"/>
          </a:xfrm>
          <a:prstGeom prst="rect">
            <a:avLst/>
          </a:prstGeom>
          <a:solidFill>
            <a:srgbClr val="00D26A"/>
          </a:solidFill>
          <a:ln w="12700">
            <a:solidFill>
              <a:srgbClr val="00D2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10312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280160" y="21031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PLG for fintechs &lt;€50M GMV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80160" y="24688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Self-serve sandbox · 30-day free tier · Stripe-style developer docs. Activation &lt; 1 day.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92240" y="22860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i="1" dirty="0">
                <a:solidFill>
                  <a:srgbClr val="00A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 &lt; €4k · payback 6 months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971800"/>
            <a:ext cx="8229600" cy="841248"/>
          </a:xfrm>
          <a:prstGeom prst="rect">
            <a:avLst/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971800"/>
            <a:ext cx="54864" cy="841248"/>
          </a:xfrm>
          <a:prstGeom prst="rect">
            <a:avLst/>
          </a:prstGeom>
          <a:solidFill>
            <a:srgbClr val="00D26A"/>
          </a:solidFill>
          <a:ln w="12700">
            <a:solidFill>
              <a:srgbClr val="00D26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0632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280160" y="30632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sales for Series B+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80160" y="34290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5-person AE team focused on Tier-1 EU neobanks. Founder-led for first 10 logos.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92240" y="32461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i="1" dirty="0">
                <a:solidFill>
                  <a:srgbClr val="00A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ACV €120k · 4-month sales cycle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931920"/>
            <a:ext cx="8229600" cy="841248"/>
          </a:xfrm>
          <a:prstGeom prst="rect">
            <a:avLst/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931920"/>
            <a:ext cx="54864" cy="841248"/>
          </a:xfrm>
          <a:prstGeom prst="rect">
            <a:avLst/>
          </a:prstGeom>
          <a:solidFill>
            <a:srgbClr val="00D26A"/>
          </a:solidFill>
          <a:ln w="12700">
            <a:solidFill>
              <a:srgbClr val="00D26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02336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1280160" y="40233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via BaaS partners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80160" y="43891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through Swan, Treezor, Solaris. Revenue share + white-label option.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92240" y="42062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i="1" dirty="0">
                <a:solidFill>
                  <a:srgbClr val="00A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 fintechs/quarter via partners (signed Q3-26)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229600" y="4846320"/>
            <a:ext cx="777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9184"/>
            <a:ext cx="164592" cy="164592"/>
          </a:xfrm>
          <a:prstGeom prst="rect">
            <a:avLst/>
          </a:prstGeom>
          <a:solidFill>
            <a:srgbClr val="00D26A"/>
          </a:solidFill>
          <a:ln w="12700">
            <a:solidFill>
              <a:srgbClr val="00D2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NeuroLedger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A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FINANCIALS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to €25M ARR by 2028.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205740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PROJECTION — €M</a:t>
            </a:r>
            <a:endParaRPr lang="en-US" sz="9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57200" y="2331720"/>
          <a:ext cx="502920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5760720" y="205740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 — STEADY STATE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760720" y="2377440"/>
            <a:ext cx="36576" cy="502920"/>
          </a:xfrm>
          <a:prstGeom prst="rect">
            <a:avLst/>
          </a:prstGeom>
          <a:solidFill>
            <a:srgbClr val="00D26A"/>
          </a:solidFill>
          <a:ln w="12700">
            <a:solidFill>
              <a:srgbClr val="00D26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897880" y="2331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897880" y="267004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760720" y="2971800"/>
            <a:ext cx="36576" cy="502920"/>
          </a:xfrm>
          <a:prstGeom prst="rect">
            <a:avLst/>
          </a:prstGeom>
          <a:solidFill>
            <a:srgbClr val="00D26A"/>
          </a:solidFill>
          <a:ln w="12700">
            <a:solidFill>
              <a:srgbClr val="00D26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897880" y="2926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1.1x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5897880" y="32644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 multiple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760720" y="3566160"/>
            <a:ext cx="36576" cy="502920"/>
          </a:xfrm>
          <a:prstGeom prst="rect">
            <a:avLst/>
          </a:prstGeom>
          <a:solidFill>
            <a:srgbClr val="00D26A"/>
          </a:solidFill>
          <a:ln w="12700">
            <a:solidFill>
              <a:srgbClr val="00D26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97880" y="3520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5897880" y="385876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 number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760720" y="4160520"/>
            <a:ext cx="36576" cy="502920"/>
          </a:xfrm>
          <a:prstGeom prst="rect">
            <a:avLst/>
          </a:prstGeom>
          <a:solidFill>
            <a:srgbClr val="00D26A"/>
          </a:solidFill>
          <a:ln w="12700">
            <a:solidFill>
              <a:srgbClr val="00D26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897880" y="4114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months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5897880" y="44531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runway (post-round)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8229600" y="4846320"/>
            <a:ext cx="777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9184"/>
            <a:ext cx="164592" cy="164592"/>
          </a:xfrm>
          <a:prstGeom prst="rect">
            <a:avLst/>
          </a:prstGeom>
          <a:solidFill>
            <a:srgbClr val="00D26A"/>
          </a:solidFill>
          <a:ln w="12700">
            <a:solidFill>
              <a:srgbClr val="00D2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NeuroLedger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D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THE ASK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Raising </a:t>
            </a:r>
            <a:pPr indent="0" marL="0">
              <a:buNone/>
            </a:pPr>
            <a:r>
              <a:rPr lang="en-US" sz="4200" b="1" dirty="0">
                <a:solidFill>
                  <a:srgbClr val="00D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€8M Series A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24231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accelerate EU expansion, hire 18 engineers, and deepen our compliance moat. Targeting close by Q4 2026.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3200400"/>
            <a:ext cx="2651760" cy="1325880"/>
          </a:xfrm>
          <a:prstGeom prst="rect">
            <a:avLst/>
          </a:prstGeom>
          <a:solidFill>
            <a:srgbClr val="1A1A1A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3200400"/>
            <a:ext cx="2651760" cy="36576"/>
          </a:xfrm>
          <a:prstGeom prst="rect">
            <a:avLst/>
          </a:prstGeom>
          <a:solidFill>
            <a:srgbClr val="00D26A"/>
          </a:solidFill>
          <a:ln w="12700">
            <a:solidFill>
              <a:srgbClr val="00D26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33375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D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35661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€4.4M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85800" y="39776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engineering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" y="42245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hires · GNN R&amp;D · model ops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91840" y="3200400"/>
            <a:ext cx="2651760" cy="1325880"/>
          </a:xfrm>
          <a:prstGeom prst="rect">
            <a:avLst/>
          </a:prstGeom>
          <a:solidFill>
            <a:srgbClr val="1A1A1A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91840" y="3200400"/>
            <a:ext cx="2651760" cy="36576"/>
          </a:xfrm>
          <a:prstGeom prst="rect">
            <a:avLst/>
          </a:prstGeom>
          <a:solidFill>
            <a:srgbClr val="00D26A"/>
          </a:solidFill>
          <a:ln w="12700">
            <a:solidFill>
              <a:srgbClr val="00D26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20440" y="33375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D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520440" y="35661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€2.4M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520440" y="39776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520440" y="42245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team · DACH/Iberia expansion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126480" y="3200400"/>
            <a:ext cx="2651760" cy="1325880"/>
          </a:xfrm>
          <a:prstGeom prst="rect">
            <a:avLst/>
          </a:prstGeom>
          <a:solidFill>
            <a:srgbClr val="1A1A1A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26480" y="3200400"/>
            <a:ext cx="2651760" cy="36576"/>
          </a:xfrm>
          <a:prstGeom prst="rect">
            <a:avLst/>
          </a:prstGeom>
          <a:solidFill>
            <a:srgbClr val="00D26A"/>
          </a:solidFill>
          <a:ln w="12700">
            <a:solidFill>
              <a:srgbClr val="00D26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55080" y="33375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D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355080" y="35661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€1.2M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355080" y="39776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&amp; ops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55080" y="42245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27001 · SOC 2 · EU AI Act readiness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9525">
            <a:solidFill>
              <a:srgbClr val="26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846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elise@neuroledger.eu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29200" y="4846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neuroledger.eu  ·  Paris, France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NeuroLedger - Pitch Deck Series A</dc:title>
  <dc:subject>PptxGenJS Presentation</dc:subject>
  <dc:creator>NeuroLedger</dc:creator>
  <cp:lastModifiedBy>NeuroLedger</cp:lastModifiedBy>
  <cp:revision>1</cp:revision>
  <dcterms:created xsi:type="dcterms:W3CDTF">2026-04-25T23:46:49Z</dcterms:created>
  <dcterms:modified xsi:type="dcterms:W3CDTF">2026-04-25T23:46:49Z</dcterms:modified>
</cp:coreProperties>
</file>